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 Mono Medium"/>
      <p:regular r:id="rId7"/>
      <p:bold r:id="rId8"/>
      <p:italic r:id="rId9"/>
      <p:boldItalic r:id="rId10"/>
    </p:embeddedFont>
    <p:embeddedFont>
      <p:font typeface="Roboto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regular.fntdata"/><Relationship Id="rId10" Type="http://schemas.openxmlformats.org/officeDocument/2006/relationships/font" Target="fonts/RobotoMonoMedium-boldItalic.fntdata"/><Relationship Id="rId13" Type="http://schemas.openxmlformats.org/officeDocument/2006/relationships/font" Target="fonts/RobotoMono-italic.fntdata"/><Relationship Id="rId12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MonoMedium-italic.fntdata"/><Relationship Id="rId14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MonoMedium-regular.fntdata"/><Relationship Id="rId8" Type="http://schemas.openxmlformats.org/officeDocument/2006/relationships/font" Target="fonts/RobotoMono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d96146baf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d96146baf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1.jpg"/><Relationship Id="rId11" Type="http://schemas.openxmlformats.org/officeDocument/2006/relationships/image" Target="../media/image7.jpg"/><Relationship Id="rId22" Type="http://schemas.openxmlformats.org/officeDocument/2006/relationships/image" Target="../media/image5.jpg"/><Relationship Id="rId10" Type="http://schemas.openxmlformats.org/officeDocument/2006/relationships/image" Target="../media/image6.jpg"/><Relationship Id="rId21" Type="http://schemas.openxmlformats.org/officeDocument/2006/relationships/image" Target="../media/image3.jpg"/><Relationship Id="rId13" Type="http://schemas.openxmlformats.org/officeDocument/2006/relationships/image" Target="../media/image4.jpg"/><Relationship Id="rId12" Type="http://schemas.openxmlformats.org/officeDocument/2006/relationships/image" Target="../media/image10.jpg"/><Relationship Id="rId23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20.jpg"/><Relationship Id="rId15" Type="http://schemas.openxmlformats.org/officeDocument/2006/relationships/image" Target="../media/image8.png"/><Relationship Id="rId14" Type="http://schemas.openxmlformats.org/officeDocument/2006/relationships/image" Target="../media/image17.png"/><Relationship Id="rId17" Type="http://schemas.openxmlformats.org/officeDocument/2006/relationships/image" Target="../media/image21.png"/><Relationship Id="rId16" Type="http://schemas.openxmlformats.org/officeDocument/2006/relationships/image" Target="../media/image18.png"/><Relationship Id="rId5" Type="http://schemas.openxmlformats.org/officeDocument/2006/relationships/image" Target="../media/image19.png"/><Relationship Id="rId19" Type="http://schemas.openxmlformats.org/officeDocument/2006/relationships/image" Target="../media/image14.png"/><Relationship Id="rId6" Type="http://schemas.openxmlformats.org/officeDocument/2006/relationships/image" Target="../media/image13.png"/><Relationship Id="rId18" Type="http://schemas.openxmlformats.org/officeDocument/2006/relationships/image" Target="../media/image15.jp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5705"/>
          <a:stretch/>
        </p:blipFill>
        <p:spPr>
          <a:xfrm>
            <a:off x="3850000" y="5469500"/>
            <a:ext cx="2645500" cy="14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225" y="6925175"/>
            <a:ext cx="5219900" cy="697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41125" y="2181850"/>
            <a:ext cx="7544309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SOTA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01650" y="420250"/>
            <a:ext cx="5908372" cy="1327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7">
            <a:alphaModFix/>
          </a:blip>
          <a:srcRect b="56353" l="76254" r="20953" t="0"/>
          <a:stretch/>
        </p:blipFill>
        <p:spPr>
          <a:xfrm>
            <a:off x="6680619" y="568872"/>
            <a:ext cx="319422" cy="317000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/>
          <p:nvPr/>
        </p:nvSpPr>
        <p:spPr>
          <a:xfrm>
            <a:off x="139638" y="755456"/>
            <a:ext cx="1618500" cy="674700"/>
          </a:xfrm>
          <a:prstGeom prst="roundRect">
            <a:avLst>
              <a:gd fmla="val 5103" name="adj"/>
            </a:avLst>
          </a:prstGeom>
          <a:noFill/>
          <a:ln cap="flat" cmpd="sng" w="13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75" lIns="125675" spcFirstLastPara="1" rIns="125675" wrap="square" tIns="12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4"/>
          </a:p>
        </p:txBody>
      </p:sp>
      <p:sp>
        <p:nvSpPr>
          <p:cNvPr id="60" name="Google Shape;60;p13"/>
          <p:cNvSpPr/>
          <p:nvPr/>
        </p:nvSpPr>
        <p:spPr>
          <a:xfrm>
            <a:off x="2362652" y="620084"/>
            <a:ext cx="4287600" cy="3067500"/>
          </a:xfrm>
          <a:prstGeom prst="roundRect">
            <a:avLst>
              <a:gd fmla="val 6066" name="adj"/>
            </a:avLst>
          </a:prstGeom>
          <a:solidFill>
            <a:srgbClr val="FFFFFF"/>
          </a:solidFill>
          <a:ln cap="flat" cmpd="sng" w="136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0975" lIns="130975" spcFirstLastPara="1" rIns="130975" wrap="square" tIns="13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5">
              <a:solidFill>
                <a:schemeClr val="dk1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2564846" y="765392"/>
            <a:ext cx="38832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725" lIns="116725" spcFirstLastPara="1" rIns="116725" wrap="square" tIns="11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18">
                <a:solidFill>
                  <a:srgbClr val="11111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Verification Scaling Framework</a:t>
            </a:r>
            <a:endParaRPr sz="1218">
              <a:solidFill>
                <a:srgbClr val="11111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15800" y="634910"/>
            <a:ext cx="416429" cy="303792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414716" y="909501"/>
            <a:ext cx="1450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700" lIns="122700" spcFirstLastPara="1" rIns="122700" wrap="square" tIns="12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>
                <a:solidFill>
                  <a:srgbClr val="11111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Text</a:t>
            </a:r>
            <a:endParaRPr sz="1003">
              <a:solidFill>
                <a:srgbClr val="11111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1111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139711" y="1795911"/>
            <a:ext cx="1618500" cy="699900"/>
          </a:xfrm>
          <a:prstGeom prst="roundRect">
            <a:avLst>
              <a:gd fmla="val 5103" name="adj"/>
            </a:avLst>
          </a:prstGeom>
          <a:noFill/>
          <a:ln cap="flat" cmpd="sng" w="13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75" lIns="125675" spcFirstLastPara="1" rIns="125675" wrap="square" tIns="12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4"/>
          </a:p>
        </p:txBody>
      </p:sp>
      <p:sp>
        <p:nvSpPr>
          <p:cNvPr id="65" name="Google Shape;65;p13"/>
          <p:cNvSpPr txBox="1"/>
          <p:nvPr/>
        </p:nvSpPr>
        <p:spPr>
          <a:xfrm>
            <a:off x="766571" y="1969870"/>
            <a:ext cx="7824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700" lIns="122700" spcFirstLastPara="1" rIns="122700" wrap="square" tIns="12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>
                <a:solidFill>
                  <a:srgbClr val="11111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Image</a:t>
            </a:r>
            <a:endParaRPr sz="1003">
              <a:solidFill>
                <a:srgbClr val="11111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1111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3089680" y="343075"/>
            <a:ext cx="2833500" cy="5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130975" lIns="130975" spcFirstLastPara="1" rIns="130975" wrap="square" tIns="13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2">
                <a:solidFill>
                  <a:srgbClr val="B1040E"/>
                </a:solidFill>
                <a:latin typeface="Roboto Mono"/>
                <a:ea typeface="Roboto Mono"/>
                <a:cs typeface="Roboto Mono"/>
                <a:sym typeface="Roboto Mono"/>
              </a:rPr>
              <a:t>LLM-as-a-Verifier</a:t>
            </a:r>
            <a:endParaRPr b="1" sz="1862">
              <a:solidFill>
                <a:srgbClr val="B1040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139714" y="2838302"/>
            <a:ext cx="1618500" cy="691200"/>
          </a:xfrm>
          <a:prstGeom prst="roundRect">
            <a:avLst>
              <a:gd fmla="val 5103" name="adj"/>
            </a:avLst>
          </a:prstGeom>
          <a:noFill/>
          <a:ln cap="flat" cmpd="sng" w="13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75" lIns="125675" spcFirstLastPara="1" rIns="125675" wrap="square" tIns="12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4"/>
          </a:p>
        </p:txBody>
      </p:sp>
      <p:sp>
        <p:nvSpPr>
          <p:cNvPr id="68" name="Google Shape;68;p13"/>
          <p:cNvSpPr txBox="1"/>
          <p:nvPr/>
        </p:nvSpPr>
        <p:spPr>
          <a:xfrm>
            <a:off x="667033" y="3022006"/>
            <a:ext cx="10014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700" lIns="122700" spcFirstLastPara="1" rIns="122700" wrap="square" tIns="12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>
                <a:solidFill>
                  <a:srgbClr val="11111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Video</a:t>
            </a:r>
            <a:endParaRPr sz="1003">
              <a:solidFill>
                <a:srgbClr val="11111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1111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9" name="Google Shape;69;p13" title="image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1311" y="1922114"/>
            <a:ext cx="508480" cy="48902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/>
          <p:nvPr/>
        </p:nvSpPr>
        <p:spPr>
          <a:xfrm>
            <a:off x="2627936" y="1272048"/>
            <a:ext cx="1700400" cy="806100"/>
          </a:xfrm>
          <a:prstGeom prst="roundRect">
            <a:avLst>
              <a:gd fmla="val 5103" name="adj"/>
            </a:avLst>
          </a:prstGeom>
          <a:noFill/>
          <a:ln cap="flat" cmpd="sng" w="13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75" lIns="125675" spcFirstLastPara="1" rIns="125675" wrap="square" tIns="12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4"/>
          </a:p>
        </p:txBody>
      </p:sp>
      <p:sp>
        <p:nvSpPr>
          <p:cNvPr id="71" name="Google Shape;71;p13"/>
          <p:cNvSpPr/>
          <p:nvPr/>
        </p:nvSpPr>
        <p:spPr>
          <a:xfrm>
            <a:off x="4649606" y="1272048"/>
            <a:ext cx="1700400" cy="806100"/>
          </a:xfrm>
          <a:prstGeom prst="roundRect">
            <a:avLst>
              <a:gd fmla="val 5103" name="adj"/>
            </a:avLst>
          </a:prstGeom>
          <a:noFill/>
          <a:ln cap="flat" cmpd="sng" w="13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75" lIns="125675" spcFirstLastPara="1" rIns="125675" wrap="square" tIns="12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4"/>
          </a:p>
        </p:txBody>
      </p:sp>
      <p:sp>
        <p:nvSpPr>
          <p:cNvPr id="72" name="Google Shape;72;p13"/>
          <p:cNvSpPr/>
          <p:nvPr/>
        </p:nvSpPr>
        <p:spPr>
          <a:xfrm>
            <a:off x="2627936" y="2275242"/>
            <a:ext cx="1700400" cy="806100"/>
          </a:xfrm>
          <a:prstGeom prst="roundRect">
            <a:avLst>
              <a:gd fmla="val 5103" name="adj"/>
            </a:avLst>
          </a:prstGeom>
          <a:noFill/>
          <a:ln cap="flat" cmpd="sng" w="13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75" lIns="125675" spcFirstLastPara="1" rIns="125675" wrap="square" tIns="12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4"/>
          </a:p>
        </p:txBody>
      </p:sp>
      <p:sp>
        <p:nvSpPr>
          <p:cNvPr id="73" name="Google Shape;73;p13"/>
          <p:cNvSpPr/>
          <p:nvPr/>
        </p:nvSpPr>
        <p:spPr>
          <a:xfrm>
            <a:off x="4649606" y="2275224"/>
            <a:ext cx="1700400" cy="806100"/>
          </a:xfrm>
          <a:prstGeom prst="roundRect">
            <a:avLst>
              <a:gd fmla="val 5103" name="adj"/>
            </a:avLst>
          </a:prstGeom>
          <a:noFill/>
          <a:ln cap="flat" cmpd="sng" w="13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75" lIns="125675" spcFirstLastPara="1" rIns="125675" wrap="square" tIns="12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4"/>
          </a:p>
        </p:txBody>
      </p:sp>
      <p:sp>
        <p:nvSpPr>
          <p:cNvPr id="74" name="Google Shape;74;p13"/>
          <p:cNvSpPr txBox="1"/>
          <p:nvPr/>
        </p:nvSpPr>
        <p:spPr>
          <a:xfrm>
            <a:off x="2311822" y="1220227"/>
            <a:ext cx="2314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700" lIns="122700" spcFirstLastPara="1" rIns="122700" wrap="square" tIns="12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76"/>
              <a:buFont typeface="Arial"/>
              <a:buNone/>
            </a:pPr>
            <a:r>
              <a:rPr b="1" lang="en" sz="1003">
                <a:solidFill>
                  <a:srgbClr val="B1040E"/>
                </a:solidFill>
                <a:latin typeface="Roboto Mono"/>
                <a:ea typeface="Roboto Mono"/>
                <a:cs typeface="Roboto Mono"/>
                <a:sym typeface="Roboto Mono"/>
              </a:rPr>
              <a:t>Uncertainty</a:t>
            </a:r>
            <a:endParaRPr b="1" sz="1003">
              <a:solidFill>
                <a:srgbClr val="B1040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3">
              <a:solidFill>
                <a:srgbClr val="B1040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1040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4347494" y="1220227"/>
            <a:ext cx="2314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700" lIns="122700" spcFirstLastPara="1" rIns="122700" wrap="square" tIns="12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3">
                <a:solidFill>
                  <a:srgbClr val="B1040E"/>
                </a:solidFill>
                <a:latin typeface="Roboto Mono"/>
                <a:ea typeface="Roboto Mono"/>
                <a:cs typeface="Roboto Mono"/>
                <a:sym typeface="Roboto Mono"/>
              </a:rPr>
              <a:t>Granularity</a:t>
            </a:r>
            <a:endParaRPr b="1" sz="1003">
              <a:solidFill>
                <a:srgbClr val="B1040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1040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2321150" y="2213895"/>
            <a:ext cx="2314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700" lIns="122700" spcFirstLastPara="1" rIns="122700" wrap="square" tIns="12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3">
                <a:solidFill>
                  <a:srgbClr val="B1040E"/>
                </a:solidFill>
                <a:latin typeface="Roboto Mono"/>
                <a:ea typeface="Roboto Mono"/>
                <a:cs typeface="Roboto Mono"/>
                <a:sym typeface="Roboto Mono"/>
              </a:rPr>
              <a:t>Repetition</a:t>
            </a:r>
            <a:endParaRPr b="1" sz="1003">
              <a:solidFill>
                <a:srgbClr val="B1040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1040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4366373" y="2213913"/>
            <a:ext cx="2314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700" lIns="122700" spcFirstLastPara="1" rIns="122700" wrap="square" tIns="12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3">
                <a:solidFill>
                  <a:srgbClr val="B1040E"/>
                </a:solidFill>
                <a:latin typeface="Roboto Mono"/>
                <a:ea typeface="Roboto Mono"/>
                <a:cs typeface="Roboto Mono"/>
                <a:sym typeface="Roboto Mono"/>
              </a:rPr>
              <a:t>Decomposition</a:t>
            </a:r>
            <a:endParaRPr b="1" sz="1003">
              <a:solidFill>
                <a:srgbClr val="B1040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1040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8" name="Google Shape;78;p13" title="granularity.jpg"/>
          <p:cNvPicPr preferRelativeResize="0"/>
          <p:nvPr/>
        </p:nvPicPr>
        <p:blipFill rotWithShape="1">
          <a:blip r:embed="rId10">
            <a:alphaModFix/>
          </a:blip>
          <a:srcRect b="12080" l="0" r="0" t="0"/>
          <a:stretch/>
        </p:blipFill>
        <p:spPr>
          <a:xfrm>
            <a:off x="4728685" y="1519207"/>
            <a:ext cx="508516" cy="429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3" title="repetition.jp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766196" y="2560371"/>
            <a:ext cx="416430" cy="400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3" title="decomposition.jp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697435" y="2553057"/>
            <a:ext cx="416430" cy="40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3" title="probabilistic.jp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706552" y="1564581"/>
            <a:ext cx="416430" cy="40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042890" y="3117603"/>
            <a:ext cx="3028223" cy="50966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3"/>
          <p:cNvSpPr txBox="1"/>
          <p:nvPr/>
        </p:nvSpPr>
        <p:spPr>
          <a:xfrm>
            <a:off x="5145057" y="1520317"/>
            <a:ext cx="10401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700" lIns="122700" spcFirstLastPara="1" rIns="122700" wrap="square" tIns="12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16">
                <a:solidFill>
                  <a:srgbClr val="525458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Fine-Grained Scoring Token</a:t>
            </a:r>
            <a:endParaRPr sz="716">
              <a:solidFill>
                <a:srgbClr val="525458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6">
              <a:solidFill>
                <a:srgbClr val="52545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3006430" y="1520299"/>
            <a:ext cx="12174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700" lIns="122700" spcFirstLastPara="1" rIns="122700" wrap="square" tIns="12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16">
                <a:solidFill>
                  <a:srgbClr val="525458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Probability over LLM logits</a:t>
            </a:r>
            <a:endParaRPr sz="716">
              <a:solidFill>
                <a:srgbClr val="525458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6">
              <a:solidFill>
                <a:srgbClr val="52545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3082605" y="2521739"/>
            <a:ext cx="12174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700" lIns="122700" spcFirstLastPara="1" rIns="122700" wrap="square" tIns="12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16">
                <a:solidFill>
                  <a:srgbClr val="525458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Aggregate over multiple signals</a:t>
            </a:r>
            <a:endParaRPr sz="716">
              <a:solidFill>
                <a:srgbClr val="525458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6">
              <a:solidFill>
                <a:srgbClr val="52545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036837" y="2526914"/>
            <a:ext cx="12882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700" lIns="122700" spcFirstLastPara="1" rIns="122700" wrap="square" tIns="12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16">
                <a:solidFill>
                  <a:srgbClr val="525458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Decompose into simpler factors</a:t>
            </a:r>
            <a:endParaRPr sz="716">
              <a:solidFill>
                <a:srgbClr val="525458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6">
              <a:solidFill>
                <a:srgbClr val="52545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87" name="Google Shape;87;p13"/>
          <p:cNvCxnSpPr>
            <a:stCxn id="70" idx="3"/>
            <a:endCxn id="71" idx="1"/>
          </p:cNvCxnSpPr>
          <p:nvPr/>
        </p:nvCxnSpPr>
        <p:spPr>
          <a:xfrm>
            <a:off x="4328336" y="1675098"/>
            <a:ext cx="321300" cy="0"/>
          </a:xfrm>
          <a:prstGeom prst="straightConnector1">
            <a:avLst/>
          </a:prstGeom>
          <a:noFill/>
          <a:ln cap="flat" cmpd="sng" w="13650">
            <a:solidFill>
              <a:srgbClr val="B1040E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8" name="Google Shape;88;p13"/>
          <p:cNvCxnSpPr>
            <a:stCxn id="70" idx="2"/>
            <a:endCxn id="72" idx="0"/>
          </p:cNvCxnSpPr>
          <p:nvPr/>
        </p:nvCxnSpPr>
        <p:spPr>
          <a:xfrm>
            <a:off x="3478136" y="2078148"/>
            <a:ext cx="0" cy="197100"/>
          </a:xfrm>
          <a:prstGeom prst="straightConnector1">
            <a:avLst/>
          </a:prstGeom>
          <a:noFill/>
          <a:ln cap="flat" cmpd="sng" w="13650">
            <a:solidFill>
              <a:srgbClr val="B1040E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9" name="Google Shape;89;p13"/>
          <p:cNvCxnSpPr>
            <a:stCxn id="71" idx="2"/>
            <a:endCxn id="73" idx="0"/>
          </p:cNvCxnSpPr>
          <p:nvPr/>
        </p:nvCxnSpPr>
        <p:spPr>
          <a:xfrm>
            <a:off x="5499806" y="2078148"/>
            <a:ext cx="0" cy="197100"/>
          </a:xfrm>
          <a:prstGeom prst="straightConnector1">
            <a:avLst/>
          </a:prstGeom>
          <a:noFill/>
          <a:ln cap="flat" cmpd="sng" w="13650">
            <a:solidFill>
              <a:srgbClr val="B1040E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90" name="Google Shape;90;p13"/>
          <p:cNvCxnSpPr>
            <a:stCxn id="73" idx="1"/>
            <a:endCxn id="72" idx="3"/>
          </p:cNvCxnSpPr>
          <p:nvPr/>
        </p:nvCxnSpPr>
        <p:spPr>
          <a:xfrm rot="10800000">
            <a:off x="4328306" y="2678274"/>
            <a:ext cx="321300" cy="0"/>
          </a:xfrm>
          <a:prstGeom prst="straightConnector1">
            <a:avLst/>
          </a:prstGeom>
          <a:noFill/>
          <a:ln cap="flat" cmpd="sng" w="13650">
            <a:solidFill>
              <a:srgbClr val="B1040E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91" name="Google Shape;91;p13" title="video-library-svgrepo-com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91589" y="3021772"/>
            <a:ext cx="394831" cy="379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title="text-size-svgrepo-com (1)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44596" y="940945"/>
            <a:ext cx="341841" cy="32875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/>
          <p:nvPr/>
        </p:nvSpPr>
        <p:spPr>
          <a:xfrm>
            <a:off x="4223902" y="1920664"/>
            <a:ext cx="530100" cy="531000"/>
          </a:xfrm>
          <a:prstGeom prst="ellipse">
            <a:avLst/>
          </a:prstGeom>
          <a:solidFill>
            <a:schemeClr val="lt1"/>
          </a:solidFill>
          <a:ln cap="flat" cmpd="sng" w="13650">
            <a:solidFill>
              <a:srgbClr val="B104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0975" lIns="130975" spcFirstLastPara="1" rIns="130975" wrap="square" tIns="13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5"/>
          </a:p>
        </p:txBody>
      </p:sp>
      <p:pic>
        <p:nvPicPr>
          <p:cNvPr id="94" name="Google Shape;94;p13" title="ChatGPT Image Jun 8, 2026, 01_29_11 PM.png"/>
          <p:cNvPicPr preferRelativeResize="0"/>
          <p:nvPr/>
        </p:nvPicPr>
        <p:blipFill rotWithShape="1">
          <a:blip r:embed="rId17">
            <a:alphaModFix/>
          </a:blip>
          <a:srcRect b="4841" l="0" r="0" t="4832"/>
          <a:stretch/>
        </p:blipFill>
        <p:spPr>
          <a:xfrm>
            <a:off x="4364642" y="2066545"/>
            <a:ext cx="248971" cy="25304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/>
          <p:nvPr/>
        </p:nvSpPr>
        <p:spPr>
          <a:xfrm>
            <a:off x="6973012" y="5616525"/>
            <a:ext cx="1043700" cy="333000"/>
          </a:xfrm>
          <a:prstGeom prst="roundRect">
            <a:avLst>
              <a:gd fmla="val 5103" name="adj"/>
            </a:avLst>
          </a:prstGeom>
          <a:noFill/>
          <a:ln cap="flat" cmpd="sng" w="91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725" lIns="87725" spcFirstLastPara="1" rIns="87725" wrap="square" tIns="8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  Coding</a:t>
            </a:r>
            <a:endParaRPr sz="1343"/>
          </a:p>
        </p:txBody>
      </p:sp>
      <p:sp>
        <p:nvSpPr>
          <p:cNvPr id="96" name="Google Shape;96;p13"/>
          <p:cNvSpPr/>
          <p:nvPr/>
        </p:nvSpPr>
        <p:spPr>
          <a:xfrm>
            <a:off x="8135188" y="5616525"/>
            <a:ext cx="1043700" cy="333000"/>
          </a:xfrm>
          <a:prstGeom prst="roundRect">
            <a:avLst>
              <a:gd fmla="val 5103" name="adj"/>
            </a:avLst>
          </a:prstGeom>
          <a:noFill/>
          <a:ln cap="flat" cmpd="sng" w="91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725" lIns="87725" spcFirstLastPara="1" rIns="87725" wrap="square" tIns="8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  Robotics</a:t>
            </a:r>
            <a:endParaRPr sz="1343"/>
          </a:p>
        </p:txBody>
      </p:sp>
      <p:sp>
        <p:nvSpPr>
          <p:cNvPr id="97" name="Google Shape;97;p13"/>
          <p:cNvSpPr/>
          <p:nvPr/>
        </p:nvSpPr>
        <p:spPr>
          <a:xfrm>
            <a:off x="9297375" y="5618925"/>
            <a:ext cx="1043700" cy="333000"/>
          </a:xfrm>
          <a:prstGeom prst="roundRect">
            <a:avLst>
              <a:gd fmla="val 5103" name="adj"/>
            </a:avLst>
          </a:prstGeom>
          <a:noFill/>
          <a:ln cap="flat" cmpd="sng" w="91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725" lIns="87725" spcFirstLastPara="1" rIns="87725" wrap="square" tIns="8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  Medical</a:t>
            </a:r>
            <a:endParaRPr sz="1343"/>
          </a:p>
        </p:txBody>
      </p:sp>
      <p:pic>
        <p:nvPicPr>
          <p:cNvPr id="98" name="Google Shape;98;p13" title="coding.jp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085845" y="5653225"/>
            <a:ext cx="275628" cy="259574"/>
          </a:xfrm>
          <a:prstGeom prst="rect">
            <a:avLst/>
          </a:prstGeom>
          <a:noFill/>
          <a:ln cap="flat" cmpd="sng" w="9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9" name="Google Shape;99;p13" title="robot-arm-svgrepo-com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205363" y="5681831"/>
            <a:ext cx="214451" cy="21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 title="medical.jp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9332938" y="5661663"/>
            <a:ext cx="259574" cy="25957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/>
          <p:nvPr/>
        </p:nvSpPr>
        <p:spPr>
          <a:xfrm>
            <a:off x="7164765" y="748078"/>
            <a:ext cx="1839600" cy="806100"/>
          </a:xfrm>
          <a:prstGeom prst="roundRect">
            <a:avLst>
              <a:gd fmla="val 5103" name="adj"/>
            </a:avLst>
          </a:prstGeom>
          <a:noFill/>
          <a:ln cap="flat" cmpd="sng" w="13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75" lIns="125675" spcFirstLastPara="1" rIns="125675" wrap="square" tIns="12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4"/>
          </a:p>
        </p:txBody>
      </p:sp>
      <p:sp>
        <p:nvSpPr>
          <p:cNvPr id="102" name="Google Shape;102;p13"/>
          <p:cNvSpPr txBox="1"/>
          <p:nvPr/>
        </p:nvSpPr>
        <p:spPr>
          <a:xfrm>
            <a:off x="7602462" y="860779"/>
            <a:ext cx="13647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700" lIns="122700" spcFirstLastPara="1" rIns="122700" wrap="square" tIns="12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>
                <a:solidFill>
                  <a:srgbClr val="11111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Test-Time Scaling</a:t>
            </a:r>
            <a:endParaRPr sz="1003">
              <a:solidFill>
                <a:srgbClr val="11111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1111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7147789" y="1731271"/>
            <a:ext cx="1839600" cy="817800"/>
          </a:xfrm>
          <a:prstGeom prst="roundRect">
            <a:avLst>
              <a:gd fmla="val 5103" name="adj"/>
            </a:avLst>
          </a:prstGeom>
          <a:noFill/>
          <a:ln cap="flat" cmpd="sng" w="13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75" lIns="125675" spcFirstLastPara="1" rIns="125675" wrap="square" tIns="12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4"/>
          </a:p>
        </p:txBody>
      </p:sp>
      <p:sp>
        <p:nvSpPr>
          <p:cNvPr id="104" name="Google Shape;104;p13"/>
          <p:cNvSpPr txBox="1"/>
          <p:nvPr/>
        </p:nvSpPr>
        <p:spPr>
          <a:xfrm>
            <a:off x="7665629" y="1841179"/>
            <a:ext cx="12387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700" lIns="122700" spcFirstLastPara="1" rIns="122700" wrap="square" tIns="12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>
                <a:solidFill>
                  <a:srgbClr val="11111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Progress Tracking</a:t>
            </a:r>
            <a:endParaRPr sz="1003">
              <a:solidFill>
                <a:srgbClr val="11111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1111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7147789" y="2756042"/>
            <a:ext cx="1839600" cy="787200"/>
          </a:xfrm>
          <a:prstGeom prst="roundRect">
            <a:avLst>
              <a:gd fmla="val 5103" name="adj"/>
            </a:avLst>
          </a:prstGeom>
          <a:noFill/>
          <a:ln cap="flat" cmpd="sng" w="13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75" lIns="125675" spcFirstLastPara="1" rIns="125675" wrap="square" tIns="12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4"/>
          </a:p>
        </p:txBody>
      </p:sp>
      <p:sp>
        <p:nvSpPr>
          <p:cNvPr id="106" name="Google Shape;106;p13"/>
          <p:cNvSpPr txBox="1"/>
          <p:nvPr/>
        </p:nvSpPr>
        <p:spPr>
          <a:xfrm>
            <a:off x="7665635" y="2901512"/>
            <a:ext cx="12957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700" lIns="122700" spcFirstLastPara="1" rIns="122700" wrap="square" tIns="12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>
                <a:solidFill>
                  <a:srgbClr val="11111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Reinforcement Learning</a:t>
            </a:r>
            <a:endParaRPr sz="1003">
              <a:solidFill>
                <a:srgbClr val="11111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1111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07" name="Google Shape;107;p13" title="test_time_scaling.jp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7293814" y="889787"/>
            <a:ext cx="489052" cy="489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3" title="progress_tracking.jp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7313457" y="1940219"/>
            <a:ext cx="429891" cy="429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 title="brain-svgrepo-com (1).png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7355859" y="3000103"/>
            <a:ext cx="328758" cy="328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